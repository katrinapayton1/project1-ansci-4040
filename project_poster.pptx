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2"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9481"/>
    <p:restoredTop sz="96132"/>
  </p:normalViewPr>
  <p:slideViewPr>
    <p:cSldViewPr snapToGrid="0" snapToObjects="1">
      <p:cViewPr>
        <p:scale>
          <a:sx n="69" d="100"/>
          <a:sy n="69" d="100"/>
        </p:scale>
        <p:origin x="1400" y="13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72CD21-12BF-4D4C-9750-CFE383E595E5}" type="datetimeFigureOut">
              <a:rPr lang="en-US" smtClean="0"/>
              <a:t>10/4/26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7AE094-BA2F-B743-A2A1-E7EB4F3D61A3}" type="slidenum">
              <a:rPr lang="en-US" smtClean="0"/>
              <a:t>‹#›</a:t>
            </a:fld>
            <a:endParaRPr lang="en-US"/>
          </a:p>
        </p:txBody>
      </p:sp>
    </p:spTree>
    <p:extLst>
      <p:ext uri="{BB962C8B-B14F-4D97-AF65-F5344CB8AC3E}">
        <p14:creationId xmlns:p14="http://schemas.microsoft.com/office/powerpoint/2010/main" val="2185594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Randomforest</a:t>
            </a:r>
            <a:r>
              <a:rPr lang="en-US" dirty="0"/>
              <a:t>- chosen for multiclassification of many cows with non-linear data … can't get accuracy up… why? </a:t>
            </a:r>
          </a:p>
          <a:p>
            <a:pPr marL="171450" indent="-171450">
              <a:buFontTx/>
              <a:buChar char="-"/>
            </a:pPr>
            <a:r>
              <a:rPr lang="en-US" dirty="0"/>
              <a:t>Features might not be cow-specific enough </a:t>
            </a:r>
          </a:p>
          <a:p>
            <a:pPr marL="171450" indent="-171450">
              <a:buFontTx/>
              <a:buChar char="-"/>
            </a:pPr>
            <a:r>
              <a:rPr lang="en-US" dirty="0"/>
              <a:t>- alternative models: k-nearest neighbors, similarity based </a:t>
            </a:r>
          </a:p>
          <a:p>
            <a:endParaRPr lang="en-US" dirty="0"/>
          </a:p>
          <a:p>
            <a:r>
              <a:rPr lang="en-US" dirty="0"/>
              <a:t>SD=3 conservative while removing extremes</a:t>
            </a:r>
          </a:p>
          <a:p>
            <a:endParaRPr lang="en-US" dirty="0"/>
          </a:p>
          <a:p>
            <a:r>
              <a:rPr lang="en-US" dirty="0"/>
              <a:t>Why did I choose this data split- chronological split to represent real world application, largest portion train, next for val (needed to verify model performance with tuned hyperparameters with new data that is not test data, chose 20 rather than 10 to have more observations per cow), test held unbiased </a:t>
            </a:r>
          </a:p>
          <a:p>
            <a:endParaRPr lang="en-US" dirty="0"/>
          </a:p>
          <a:p>
            <a:r>
              <a:rPr lang="en-US" dirty="0"/>
              <a:t>What is randomized search – random selection of hyperparameter combinations and 12 models evaluated, less expensive than </a:t>
            </a:r>
            <a:r>
              <a:rPr lang="en-US" dirty="0" err="1"/>
              <a:t>gridsearch</a:t>
            </a:r>
            <a:r>
              <a:rPr lang="en-US" dirty="0"/>
              <a:t> </a:t>
            </a:r>
          </a:p>
          <a:p>
            <a:endParaRPr lang="en-US" dirty="0"/>
          </a:p>
          <a:p>
            <a:r>
              <a:rPr lang="en-US" dirty="0"/>
              <a:t>Why perform top 1,5,10----- trying to distinguish individual cows rather than a yes/no situation, this allows us to see not only how well the model identifies, but also how well the model narrows possible ID to small number of candidates</a:t>
            </a:r>
          </a:p>
          <a:p>
            <a:endParaRPr lang="en-US" dirty="0"/>
          </a:p>
          <a:p>
            <a:r>
              <a:rPr lang="en-US" dirty="0"/>
              <a:t>What are each of these conceptually</a:t>
            </a:r>
          </a:p>
          <a:p>
            <a:pPr marL="628650" lvl="1" indent="-171450">
              <a:buFont typeface="Arial" panose="020B0604020202020204" pitchFamily="34" charset="0"/>
              <a:buChar char="•"/>
            </a:pPr>
            <a:r>
              <a:rPr lang="en-US" sz="1100" dirty="0">
                <a:solidFill>
                  <a:schemeClr val="tx1">
                    <a:lumMod val="85000"/>
                    <a:lumOff val="15000"/>
                  </a:schemeClr>
                </a:solidFill>
              </a:rPr>
              <a:t>n_estimators – number of decision trees </a:t>
            </a:r>
          </a:p>
          <a:p>
            <a:pPr marL="628650" lvl="1" indent="-171450">
              <a:buFont typeface="Arial" panose="020B0604020202020204" pitchFamily="34" charset="0"/>
              <a:buChar char="•"/>
            </a:pPr>
            <a:r>
              <a:rPr lang="en-US" sz="1100" dirty="0" err="1">
                <a:solidFill>
                  <a:schemeClr val="tx1">
                    <a:lumMod val="85000"/>
                    <a:lumOff val="15000"/>
                  </a:schemeClr>
                </a:solidFill>
              </a:rPr>
              <a:t>max_depth</a:t>
            </a:r>
            <a:r>
              <a:rPr lang="en-US" sz="1100" dirty="0">
                <a:solidFill>
                  <a:schemeClr val="tx1">
                    <a:lumMod val="85000"/>
                    <a:lumOff val="15000"/>
                  </a:schemeClr>
                </a:solidFill>
              </a:rPr>
              <a:t> – max depth/complexity of each tree… careful not to overfit as increases (when the model overspecifies and can’t make good predictions) </a:t>
            </a:r>
          </a:p>
          <a:p>
            <a:pPr marL="628650" lvl="1" indent="-171450">
              <a:buFont typeface="Arial" panose="020B0604020202020204" pitchFamily="34" charset="0"/>
              <a:buChar char="•"/>
            </a:pPr>
            <a:r>
              <a:rPr lang="en-US" sz="1100" dirty="0" err="1">
                <a:solidFill>
                  <a:schemeClr val="tx1">
                    <a:lumMod val="85000"/>
                    <a:lumOff val="15000"/>
                  </a:schemeClr>
                </a:solidFill>
              </a:rPr>
              <a:t>min_samples_split</a:t>
            </a:r>
            <a:r>
              <a:rPr lang="en-US" sz="1100" dirty="0">
                <a:solidFill>
                  <a:schemeClr val="tx1">
                    <a:lumMod val="85000"/>
                    <a:lumOff val="15000"/>
                  </a:schemeClr>
                </a:solidFill>
              </a:rPr>
              <a:t>- min observations to split a node, higher means simpler tree</a:t>
            </a:r>
          </a:p>
          <a:p>
            <a:pPr marL="628650" lvl="1" indent="-171450">
              <a:buFont typeface="Arial" panose="020B0604020202020204" pitchFamily="34" charset="0"/>
              <a:buChar char="•"/>
            </a:pPr>
            <a:r>
              <a:rPr lang="en-US" sz="1100" dirty="0" err="1">
                <a:solidFill>
                  <a:schemeClr val="tx1">
                    <a:lumMod val="85000"/>
                    <a:lumOff val="15000"/>
                  </a:schemeClr>
                </a:solidFill>
              </a:rPr>
              <a:t>min_samples_leaf</a:t>
            </a:r>
            <a:r>
              <a:rPr lang="en-US" sz="1100" dirty="0">
                <a:solidFill>
                  <a:schemeClr val="tx1">
                    <a:lumMod val="85000"/>
                    <a:lumOff val="15000"/>
                  </a:schemeClr>
                </a:solidFill>
              </a:rPr>
              <a:t> – min observations in final groups), higher means more generalized predictions</a:t>
            </a:r>
          </a:p>
          <a:p>
            <a:pPr marL="628650" lvl="1" indent="-171450">
              <a:buFont typeface="Arial" panose="020B0604020202020204" pitchFamily="34" charset="0"/>
              <a:buChar char="•"/>
            </a:pPr>
            <a:r>
              <a:rPr lang="en-US" sz="1100" dirty="0" err="1">
                <a:solidFill>
                  <a:schemeClr val="tx1">
                    <a:lumMod val="85000"/>
                    <a:lumOff val="15000"/>
                  </a:schemeClr>
                </a:solidFill>
              </a:rPr>
              <a:t>max_features</a:t>
            </a:r>
            <a:r>
              <a:rPr lang="en-US" sz="1100" dirty="0">
                <a:solidFill>
                  <a:schemeClr val="tx1">
                    <a:lumMod val="85000"/>
                    <a:lumOff val="15000"/>
                  </a:schemeClr>
                </a:solidFill>
              </a:rPr>
              <a:t>- number features considered when looking for a split </a:t>
            </a:r>
            <a:endParaRPr lang="en-US" dirty="0"/>
          </a:p>
        </p:txBody>
      </p:sp>
      <p:sp>
        <p:nvSpPr>
          <p:cNvPr id="4" name="Slide Number Placeholder 3"/>
          <p:cNvSpPr>
            <a:spLocks noGrp="1"/>
          </p:cNvSpPr>
          <p:nvPr>
            <p:ph type="sldNum" sz="quarter" idx="5"/>
          </p:nvPr>
        </p:nvSpPr>
        <p:spPr/>
        <p:txBody>
          <a:bodyPr/>
          <a:lstStyle/>
          <a:p>
            <a:fld id="{D47AE094-BA2F-B743-A2A1-E7EB4F3D61A3}" type="slidenum">
              <a:rPr lang="en-US" smtClean="0"/>
              <a:t>1</a:t>
            </a:fld>
            <a:endParaRPr lang="en-US"/>
          </a:p>
        </p:txBody>
      </p:sp>
    </p:spTree>
    <p:extLst>
      <p:ext uri="{BB962C8B-B14F-4D97-AF65-F5344CB8AC3E}">
        <p14:creationId xmlns:p14="http://schemas.microsoft.com/office/powerpoint/2010/main" val="14162531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5BCAD085-E8A6-8845-BD4E-CB4CCA059FC4}" type="datetimeFigureOut">
              <a:rPr lang="en-US" smtClean="0"/>
              <a:t>10/4/26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94719797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10/4/26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84906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US"/>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5BCAD085-E8A6-8845-BD4E-CB4CCA059FC4}" type="datetimeFigureOut">
              <a:rPr lang="en-US" smtClean="0"/>
              <a:t>10/4/26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115351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US"/>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5BCAD085-E8A6-8845-BD4E-CB4CCA059FC4}" type="datetimeFigureOut">
              <a:rPr lang="en-US" smtClean="0"/>
              <a:t>10/4/26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01592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10/4/26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45335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10/4/26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549352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10/4/26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6247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10/4/26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4328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10/4/26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6921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US"/>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5BCAD085-E8A6-8845-BD4E-CB4CCA059FC4}" type="datetimeFigureOut">
              <a:rPr lang="en-US" smtClean="0"/>
              <a:t>10/4/26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1206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5BCAD085-E8A6-8845-BD4E-CB4CCA059FC4}" type="datetimeFigureOut">
              <a:rPr lang="en-US" smtClean="0"/>
              <a:t>10/4/26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US"/>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775434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5BCAD085-E8A6-8845-BD4E-CB4CCA059FC4}" type="datetimeFigureOut">
              <a:rPr lang="en-US" smtClean="0"/>
              <a:t>10/4/26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23482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5BCAD085-E8A6-8845-BD4E-CB4CCA059FC4}" type="datetimeFigureOut">
              <a:rPr lang="en-US" smtClean="0"/>
              <a:t>10/4/26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US"/>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676786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5BCAD085-E8A6-8845-BD4E-CB4CCA059FC4}" type="datetimeFigureOut">
              <a:rPr lang="en-US" smtClean="0"/>
              <a:t>10/4/26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928472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5BCAD085-E8A6-8845-BD4E-CB4CCA059FC4}" type="datetimeFigureOut">
              <a:rPr lang="en-US" smtClean="0"/>
              <a:t>10/4/26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46981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5BCAD085-E8A6-8845-BD4E-CB4CCA059FC4}" type="datetimeFigureOut">
              <a:rPr lang="en-US" smtClean="0"/>
              <a:t>10/4/26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25927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10/4/26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87369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US"/>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5BCAD085-E8A6-8845-BD4E-CB4CCA059FC4}" type="datetimeFigureOut">
              <a:rPr lang="en-US" smtClean="0"/>
              <a:t>10/4/26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39963206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10/4/26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32869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10/4/26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19794861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10/4/26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5147279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10/4/26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93378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10/4/26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437414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10/4/26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608380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10/4/26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8279021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5BCAD085-E8A6-8845-BD4E-CB4CCA059FC4}" type="datetimeFigureOut">
              <a:rPr lang="en-US" smtClean="0"/>
              <a:t>10/4/26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7153309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10/4/26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9475150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US"/>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5BCAD085-E8A6-8845-BD4E-CB4CCA059FC4}" type="datetimeFigureOut">
              <a:rPr lang="en-US" smtClean="0"/>
              <a:t>10/4/26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C1FF6DA9-008F-8B48-92A6-B652298478BF}" type="slidenum">
              <a:rPr lang="en-US" smtClean="0"/>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0441972"/>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 id="2147483829" r:id="rId17"/>
    <p:sldLayoutId id="2147483830" r:id="rId18"/>
    <p:sldLayoutId id="2147483831" r:id="rId19"/>
    <p:sldLayoutId id="2147483832" r:id="rId20"/>
    <p:sldLayoutId id="2147483833" r:id="rId21"/>
    <p:sldLayoutId id="2147483834" r:id="rId22"/>
    <p:sldLayoutId id="2147483835" r:id="rId23"/>
    <p:sldLayoutId id="2147483836" r:id="rId24"/>
    <p:sldLayoutId id="2147483837" r:id="rId25"/>
    <p:sldLayoutId id="2147483838" r:id="rId26"/>
    <p:sldLayoutId id="2147483839" r:id="rId27"/>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5705" y="147324"/>
            <a:ext cx="9277668" cy="523220"/>
          </a:xfrm>
          <a:prstGeom prst="rect">
            <a:avLst/>
          </a:prstGeom>
          <a:noFill/>
        </p:spPr>
        <p:txBody>
          <a:bodyPr wrap="none">
            <a:spAutoFit/>
          </a:bodyPr>
          <a:lstStyle/>
          <a:p>
            <a:pPr>
              <a:defRPr sz="2500" b="1">
                <a:solidFill>
                  <a:srgbClr val="1F3750"/>
                </a:solidFill>
              </a:defRPr>
            </a:pPr>
            <a:r>
              <a:rPr lang="en-US" sz="2800" dirty="0"/>
              <a:t>ANSC 4040 Project 1 Workflow: Animal </a:t>
            </a:r>
            <a:r>
              <a:rPr sz="2800" dirty="0"/>
              <a:t>Identification Model</a:t>
            </a:r>
          </a:p>
        </p:txBody>
      </p:sp>
      <p:sp>
        <p:nvSpPr>
          <p:cNvPr id="4" name="Rounded Rectangle 3"/>
          <p:cNvSpPr/>
          <p:nvPr/>
        </p:nvSpPr>
        <p:spPr>
          <a:xfrm>
            <a:off x="78416" y="1078747"/>
            <a:ext cx="3853501" cy="2777192"/>
          </a:xfrm>
          <a:prstGeom prst="roundRect">
            <a:avLst/>
          </a:prstGeom>
          <a:solidFill>
            <a:srgbClr val="DDEBF7"/>
          </a:solidFill>
          <a:ln w="15240">
            <a:solidFill>
              <a:srgbClr val="CDD2D8"/>
            </a:solidFill>
          </a:ln>
        </p:spPr>
        <p:style>
          <a:lnRef idx="1">
            <a:schemeClr val="accent1"/>
          </a:lnRef>
          <a:fillRef idx="3">
            <a:schemeClr val="accent1"/>
          </a:fillRef>
          <a:effectRef idx="2">
            <a:schemeClr val="accent1"/>
          </a:effectRef>
          <a:fontRef idx="minor">
            <a:schemeClr val="lt1"/>
          </a:fontRef>
        </p:style>
        <p:txBody>
          <a:bodyPr lIns="118872" tIns="91440" bIns="73152" rtlCol="0" anchor="t"/>
          <a:lstStyle/>
          <a:p>
            <a:pPr>
              <a:spcAft>
                <a:spcPts val="500"/>
              </a:spcAft>
              <a:defRPr sz="1350" b="1">
                <a:solidFill>
                  <a:srgbClr val="1F3750"/>
                </a:solidFill>
              </a:defRPr>
            </a:pPr>
            <a:r>
              <a:rPr sz="1600" dirty="0"/>
              <a:t>1. Preprocessing</a:t>
            </a:r>
            <a:r>
              <a:rPr lang="en-US" sz="1600" dirty="0"/>
              <a:t> </a:t>
            </a:r>
            <a:r>
              <a:rPr lang="en-US" sz="1400" dirty="0"/>
              <a:t>(9087 cows, </a:t>
            </a:r>
            <a:r>
              <a:rPr lang="en-US" sz="1400" dirty="0">
                <a:solidFill>
                  <a:srgbClr val="1F3750"/>
                </a:solidFill>
              </a:rPr>
              <a:t>8.5 M rows)</a:t>
            </a:r>
            <a:endParaRPr lang="en-US" sz="1400" dirty="0"/>
          </a:p>
          <a:p>
            <a:pPr>
              <a:spcAft>
                <a:spcPts val="200"/>
              </a:spcAft>
              <a:defRPr sz="950">
                <a:solidFill>
                  <a:srgbClr val="23262A"/>
                </a:solidFill>
              </a:defRPr>
            </a:pPr>
            <a:r>
              <a:rPr lang="en-US" sz="1600" dirty="0"/>
              <a:t>Generate Data Profile Report</a:t>
            </a:r>
          </a:p>
          <a:p>
            <a:pPr marL="285750" indent="-285750">
              <a:spcAft>
                <a:spcPts val="200"/>
              </a:spcAft>
              <a:buFont typeface="Arial" panose="020B0604020202020204" pitchFamily="34" charset="0"/>
              <a:buChar char="•"/>
              <a:defRPr sz="950">
                <a:solidFill>
                  <a:srgbClr val="23262A"/>
                </a:solidFill>
              </a:defRPr>
            </a:pPr>
            <a:r>
              <a:rPr lang="en-US" sz="1600" dirty="0"/>
              <a:t>Drop Duplicates </a:t>
            </a:r>
            <a:r>
              <a:rPr lang="en-US" sz="1100" dirty="0"/>
              <a:t>(</a:t>
            </a:r>
            <a:r>
              <a:rPr lang="en-US" sz="950" dirty="0">
                <a:solidFill>
                  <a:srgbClr val="23262A"/>
                </a:solidFill>
              </a:rPr>
              <a:t>60,653 rows)</a:t>
            </a:r>
            <a:endParaRPr lang="en-US" sz="1600" dirty="0"/>
          </a:p>
          <a:p>
            <a:pPr marL="285750" indent="-285750">
              <a:spcAft>
                <a:spcPts val="200"/>
              </a:spcAft>
              <a:buFont typeface="Arial" panose="020B0604020202020204" pitchFamily="34" charset="0"/>
              <a:buChar char="•"/>
              <a:defRPr sz="950">
                <a:solidFill>
                  <a:srgbClr val="23262A"/>
                </a:solidFill>
              </a:defRPr>
            </a:pPr>
            <a:r>
              <a:rPr lang="en-US" sz="1600" dirty="0"/>
              <a:t>Z-Score, remove outliers </a:t>
            </a:r>
            <a:r>
              <a:rPr lang="en-US" sz="1100" dirty="0"/>
              <a:t>(SD=3, </a:t>
            </a:r>
            <a:r>
              <a:rPr lang="en-US" sz="950" dirty="0">
                <a:solidFill>
                  <a:srgbClr val="23262A"/>
                </a:solidFill>
              </a:rPr>
              <a:t>1.5 M rows)</a:t>
            </a:r>
            <a:endParaRPr lang="en-US" sz="1100" dirty="0"/>
          </a:p>
          <a:p>
            <a:pPr marL="285750" indent="-285750">
              <a:spcAft>
                <a:spcPts val="200"/>
              </a:spcAft>
              <a:buFont typeface="Arial" panose="020B0604020202020204" pitchFamily="34" charset="0"/>
              <a:buChar char="•"/>
              <a:defRPr sz="950">
                <a:solidFill>
                  <a:srgbClr val="23262A"/>
                </a:solidFill>
              </a:defRPr>
            </a:pPr>
            <a:r>
              <a:rPr lang="en-US" sz="1600" dirty="0"/>
              <a:t>Assess zeros </a:t>
            </a:r>
            <a:r>
              <a:rPr lang="en-US" sz="1100" dirty="0"/>
              <a:t>(keep </a:t>
            </a:r>
            <a:r>
              <a:rPr lang="en-US" sz="950" dirty="0">
                <a:solidFill>
                  <a:srgbClr val="23262A"/>
                </a:solidFill>
              </a:rPr>
              <a:t>3,098 rows - </a:t>
            </a:r>
            <a:r>
              <a:rPr lang="en-US" sz="1100" dirty="0">
                <a:solidFill>
                  <a:srgbClr val="23262A"/>
                </a:solidFill>
              </a:rPr>
              <a:t>Flow30_60Session)</a:t>
            </a:r>
          </a:p>
          <a:p>
            <a:pPr marL="285750" indent="-285750">
              <a:spcAft>
                <a:spcPts val="200"/>
              </a:spcAft>
              <a:buFont typeface="Arial" panose="020B0604020202020204" pitchFamily="34" charset="0"/>
              <a:buChar char="•"/>
              <a:defRPr sz="950">
                <a:solidFill>
                  <a:srgbClr val="23262A"/>
                </a:solidFill>
              </a:defRPr>
            </a:pPr>
            <a:r>
              <a:rPr lang="en-US" sz="1600" dirty="0">
                <a:solidFill>
                  <a:srgbClr val="23262A"/>
                </a:solidFill>
              </a:rPr>
              <a:t>Assess missing values </a:t>
            </a:r>
            <a:r>
              <a:rPr lang="en-US" sz="1100" dirty="0">
                <a:solidFill>
                  <a:srgbClr val="23262A"/>
                </a:solidFill>
              </a:rPr>
              <a:t>(All outcome variables except for AvgMilkFlow – 6 rows dropped)</a:t>
            </a:r>
          </a:p>
          <a:p>
            <a:pPr marL="285750" indent="-285750">
              <a:spcAft>
                <a:spcPts val="200"/>
              </a:spcAft>
              <a:buFont typeface="Arial" panose="020B0604020202020204" pitchFamily="34" charset="0"/>
              <a:buChar char="•"/>
              <a:defRPr sz="950">
                <a:solidFill>
                  <a:srgbClr val="23262A"/>
                </a:solidFill>
              </a:defRPr>
            </a:pPr>
            <a:r>
              <a:rPr lang="en-US" sz="1600" dirty="0"/>
              <a:t>Separate cows with missing outcome variables </a:t>
            </a:r>
            <a:r>
              <a:rPr lang="en-US" sz="1100" dirty="0"/>
              <a:t>(</a:t>
            </a:r>
            <a:r>
              <a:rPr lang="en-US" sz="950" dirty="0">
                <a:solidFill>
                  <a:srgbClr val="23262A"/>
                </a:solidFill>
              </a:rPr>
              <a:t>1.7M rows)</a:t>
            </a:r>
            <a:endParaRPr lang="en-US" sz="1100" dirty="0">
              <a:solidFill>
                <a:srgbClr val="23262A"/>
              </a:solidFill>
            </a:endParaRPr>
          </a:p>
          <a:p>
            <a:pPr marL="285750" indent="-285750">
              <a:spcAft>
                <a:spcPts val="200"/>
              </a:spcAft>
              <a:buFont typeface="Arial" panose="020B0604020202020204" pitchFamily="34" charset="0"/>
              <a:buChar char="•"/>
              <a:defRPr sz="950">
                <a:solidFill>
                  <a:srgbClr val="23262A"/>
                </a:solidFill>
              </a:defRPr>
            </a:pPr>
            <a:endParaRPr lang="en-US" sz="1000" dirty="0"/>
          </a:p>
        </p:txBody>
      </p:sp>
      <p:sp>
        <p:nvSpPr>
          <p:cNvPr id="5" name="Rounded Rectangle 4"/>
          <p:cNvSpPr/>
          <p:nvPr/>
        </p:nvSpPr>
        <p:spPr>
          <a:xfrm>
            <a:off x="4113243" y="1082025"/>
            <a:ext cx="3845458" cy="2217415"/>
          </a:xfrm>
          <a:prstGeom prst="roundRect">
            <a:avLst/>
          </a:prstGeom>
          <a:solidFill>
            <a:srgbClr val="DDEBF7"/>
          </a:solidFill>
          <a:ln w="15240">
            <a:solidFill>
              <a:srgbClr val="CDD2D8"/>
            </a:solidFill>
          </a:ln>
        </p:spPr>
        <p:style>
          <a:lnRef idx="1">
            <a:schemeClr val="accent1"/>
          </a:lnRef>
          <a:fillRef idx="3">
            <a:schemeClr val="accent1"/>
          </a:fillRef>
          <a:effectRef idx="2">
            <a:schemeClr val="accent1"/>
          </a:effectRef>
          <a:fontRef idx="minor">
            <a:schemeClr val="lt1"/>
          </a:fontRef>
        </p:style>
        <p:txBody>
          <a:bodyPr lIns="118872" tIns="91440" bIns="73152" rtlCol="0" anchor="t"/>
          <a:lstStyle/>
          <a:p>
            <a:pPr>
              <a:spcAft>
                <a:spcPts val="500"/>
              </a:spcAft>
              <a:defRPr sz="1350" b="1">
                <a:solidFill>
                  <a:srgbClr val="1F3750"/>
                </a:solidFill>
              </a:defRPr>
            </a:pPr>
            <a:r>
              <a:rPr lang="en-US" sz="1600" dirty="0"/>
              <a:t>2</a:t>
            </a:r>
            <a:r>
              <a:rPr sz="1600" dirty="0"/>
              <a:t>. Dataset Split</a:t>
            </a:r>
            <a:r>
              <a:rPr lang="en-US" sz="1600" dirty="0"/>
              <a:t> </a:t>
            </a:r>
            <a:r>
              <a:rPr lang="en-US" sz="1400" dirty="0"/>
              <a:t>(9048 cows, </a:t>
            </a:r>
            <a:r>
              <a:rPr lang="en-US" sz="1400" dirty="0">
                <a:solidFill>
                  <a:srgbClr val="1F3750"/>
                </a:solidFill>
              </a:rPr>
              <a:t>6.6 M rows)</a:t>
            </a:r>
            <a:endParaRPr sz="1400" dirty="0"/>
          </a:p>
          <a:p>
            <a:pPr>
              <a:spcAft>
                <a:spcPts val="200"/>
              </a:spcAft>
              <a:defRPr sz="950">
                <a:solidFill>
                  <a:srgbClr val="23262A"/>
                </a:solidFill>
              </a:defRPr>
            </a:pPr>
            <a:r>
              <a:rPr lang="en-US" sz="1600" dirty="0"/>
              <a:t>Chronologically sort data by cow</a:t>
            </a:r>
          </a:p>
          <a:p>
            <a:pPr marL="285750" indent="-285750">
              <a:spcAft>
                <a:spcPts val="200"/>
              </a:spcAft>
              <a:buFont typeface="Arial" panose="020B0604020202020204" pitchFamily="34" charset="0"/>
              <a:buChar char="•"/>
              <a:defRPr sz="950">
                <a:solidFill>
                  <a:srgbClr val="23262A"/>
                </a:solidFill>
              </a:defRPr>
            </a:pPr>
            <a:r>
              <a:rPr lang="en-US" sz="1600" dirty="0"/>
              <a:t>70% Train </a:t>
            </a:r>
            <a:r>
              <a:rPr lang="en-US" sz="1100" dirty="0"/>
              <a:t>(9048 cows, 4.5M rows)</a:t>
            </a:r>
          </a:p>
          <a:p>
            <a:pPr marL="285750" indent="-285750">
              <a:spcAft>
                <a:spcPts val="200"/>
              </a:spcAft>
              <a:buFont typeface="Arial" panose="020B0604020202020204" pitchFamily="34" charset="0"/>
              <a:buChar char="•"/>
              <a:defRPr sz="950">
                <a:solidFill>
                  <a:srgbClr val="23262A"/>
                </a:solidFill>
              </a:defRPr>
            </a:pPr>
            <a:r>
              <a:rPr lang="en-US" sz="1600" dirty="0"/>
              <a:t>20% Int. Validation </a:t>
            </a:r>
            <a:r>
              <a:rPr lang="en-US" sz="1100" dirty="0"/>
              <a:t>(9027 cows, 1.3 M rows)</a:t>
            </a:r>
          </a:p>
          <a:p>
            <a:pPr marL="285750" indent="-285750">
              <a:spcAft>
                <a:spcPts val="200"/>
              </a:spcAft>
              <a:buFont typeface="Arial" panose="020B0604020202020204" pitchFamily="34" charset="0"/>
              <a:buChar char="•"/>
              <a:defRPr sz="950">
                <a:solidFill>
                  <a:srgbClr val="23262A"/>
                </a:solidFill>
              </a:defRPr>
            </a:pPr>
            <a:r>
              <a:rPr lang="en-US" sz="1600" dirty="0"/>
              <a:t>10% Test </a:t>
            </a:r>
            <a:r>
              <a:rPr lang="en-US" sz="1100" dirty="0"/>
              <a:t>(8990 cows, 0.6M rows)</a:t>
            </a:r>
          </a:p>
          <a:p>
            <a:pPr>
              <a:spcAft>
                <a:spcPts val="200"/>
              </a:spcAft>
              <a:defRPr sz="950">
                <a:solidFill>
                  <a:srgbClr val="23262A"/>
                </a:solidFill>
              </a:defRPr>
            </a:pPr>
            <a:r>
              <a:rPr lang="en-US" sz="1600" dirty="0"/>
              <a:t>* Each cow represented in train, earliest dates in train, most recent dates in test</a:t>
            </a:r>
          </a:p>
          <a:p>
            <a:pPr>
              <a:spcAft>
                <a:spcPts val="200"/>
              </a:spcAft>
              <a:defRPr sz="950">
                <a:solidFill>
                  <a:srgbClr val="23262A"/>
                </a:solidFill>
              </a:defRPr>
            </a:pPr>
            <a:endParaRPr lang="en-US" sz="1600" dirty="0"/>
          </a:p>
          <a:p>
            <a:pPr>
              <a:spcAft>
                <a:spcPts val="200"/>
              </a:spcAft>
              <a:defRPr sz="950">
                <a:solidFill>
                  <a:srgbClr val="23262A"/>
                </a:solidFill>
              </a:defRPr>
            </a:pPr>
            <a:endParaRPr sz="1600" dirty="0"/>
          </a:p>
        </p:txBody>
      </p:sp>
      <p:sp>
        <p:nvSpPr>
          <p:cNvPr id="6" name="Rounded Rectangle 5"/>
          <p:cNvSpPr/>
          <p:nvPr/>
        </p:nvSpPr>
        <p:spPr>
          <a:xfrm>
            <a:off x="8148062" y="1082025"/>
            <a:ext cx="3965521" cy="2913858"/>
          </a:xfrm>
          <a:prstGeom prst="roundRect">
            <a:avLst/>
          </a:prstGeom>
          <a:solidFill>
            <a:srgbClr val="DDEBF7"/>
          </a:solidFill>
          <a:ln w="15240">
            <a:solidFill>
              <a:srgbClr val="CDD2D8"/>
            </a:solidFill>
          </a:ln>
        </p:spPr>
        <p:style>
          <a:lnRef idx="1">
            <a:schemeClr val="accent1"/>
          </a:lnRef>
          <a:fillRef idx="3">
            <a:schemeClr val="accent1"/>
          </a:fillRef>
          <a:effectRef idx="2">
            <a:schemeClr val="accent1"/>
          </a:effectRef>
          <a:fontRef idx="minor">
            <a:schemeClr val="lt1"/>
          </a:fontRef>
        </p:style>
        <p:txBody>
          <a:bodyPr lIns="118872" tIns="91440" bIns="73152" rtlCol="0" anchor="t"/>
          <a:lstStyle/>
          <a:p>
            <a:pPr>
              <a:spcAft>
                <a:spcPts val="500"/>
              </a:spcAft>
              <a:defRPr sz="1350" b="1">
                <a:solidFill>
                  <a:srgbClr val="1F3750"/>
                </a:solidFill>
              </a:defRPr>
            </a:pPr>
            <a:r>
              <a:rPr lang="en-US" sz="1600" dirty="0"/>
              <a:t>3</a:t>
            </a:r>
            <a:r>
              <a:rPr sz="1600" dirty="0"/>
              <a:t>. Model Choice &amp; Formation</a:t>
            </a:r>
          </a:p>
          <a:p>
            <a:pPr>
              <a:spcAft>
                <a:spcPts val="200"/>
              </a:spcAft>
              <a:defRPr sz="950">
                <a:solidFill>
                  <a:srgbClr val="23262A"/>
                </a:solidFill>
              </a:defRPr>
            </a:pPr>
            <a:r>
              <a:rPr lang="en-US" sz="1600" i="1" dirty="0"/>
              <a:t>RandomForestClassifier</a:t>
            </a:r>
            <a:r>
              <a:rPr lang="en-US" sz="1600" dirty="0"/>
              <a:t> – tree-based model</a:t>
            </a:r>
          </a:p>
          <a:p>
            <a:pPr marL="285750" indent="-285750">
              <a:spcAft>
                <a:spcPts val="200"/>
              </a:spcAft>
              <a:buFont typeface="Arial" panose="020B0604020202020204" pitchFamily="34" charset="0"/>
              <a:buChar char="•"/>
              <a:defRPr sz="950">
                <a:solidFill>
                  <a:srgbClr val="23262A"/>
                </a:solidFill>
              </a:defRPr>
            </a:pPr>
            <a:r>
              <a:rPr lang="en-US" sz="1600" dirty="0"/>
              <a:t>n=5, 50, 100, 400 </a:t>
            </a:r>
            <a:r>
              <a:rPr lang="en-US" sz="1100" dirty="0"/>
              <a:t>(maximum sample possible)</a:t>
            </a:r>
          </a:p>
          <a:p>
            <a:pPr lvl="1">
              <a:spcAft>
                <a:spcPts val="200"/>
              </a:spcAft>
              <a:defRPr sz="950">
                <a:solidFill>
                  <a:srgbClr val="23262A"/>
                </a:solidFill>
              </a:defRPr>
            </a:pPr>
            <a:r>
              <a:rPr lang="en-US" sz="1100" dirty="0"/>
              <a:t>400 cows selected to represent each split</a:t>
            </a:r>
          </a:p>
          <a:p>
            <a:pPr lvl="1">
              <a:spcAft>
                <a:spcPts val="200"/>
              </a:spcAft>
              <a:defRPr sz="950">
                <a:solidFill>
                  <a:srgbClr val="23262A"/>
                </a:solidFill>
              </a:defRPr>
            </a:pPr>
            <a:r>
              <a:rPr lang="en-US" sz="1100" dirty="0"/>
              <a:t>Train= 0.2M, Val=0.06M, Test=0.03</a:t>
            </a:r>
          </a:p>
          <a:p>
            <a:pPr marL="285750" indent="-285750">
              <a:spcAft>
                <a:spcPts val="200"/>
              </a:spcAft>
              <a:buFont typeface="Arial" panose="020B0604020202020204" pitchFamily="34" charset="0"/>
              <a:buChar char="•"/>
              <a:defRPr sz="950">
                <a:solidFill>
                  <a:srgbClr val="23262A"/>
                </a:solidFill>
              </a:defRPr>
            </a:pPr>
            <a:r>
              <a:rPr lang="en-US" sz="1600" dirty="0"/>
              <a:t>Define target </a:t>
            </a:r>
            <a:r>
              <a:rPr lang="en-US" sz="1100" dirty="0"/>
              <a:t>(AnimalID- make string label)</a:t>
            </a:r>
          </a:p>
          <a:p>
            <a:pPr marL="285750" indent="-285750">
              <a:spcAft>
                <a:spcPts val="200"/>
              </a:spcAft>
              <a:buFont typeface="Arial" panose="020B0604020202020204" pitchFamily="34" charset="0"/>
              <a:buChar char="•"/>
              <a:defRPr sz="950">
                <a:solidFill>
                  <a:srgbClr val="23262A"/>
                </a:solidFill>
              </a:defRPr>
            </a:pPr>
            <a:r>
              <a:rPr lang="en-US" sz="1600" dirty="0"/>
              <a:t>Define features </a:t>
            </a:r>
            <a:r>
              <a:rPr lang="en-US" sz="1100" dirty="0"/>
              <a:t>(</a:t>
            </a:r>
            <a:r>
              <a:rPr lang="en-US" sz="1100" dirty="0">
                <a:solidFill>
                  <a:srgbClr val="23262A"/>
                </a:solidFill>
              </a:rPr>
              <a:t>Avgmilkflow, Flow30_60Session, YieldFirst2Min_Session, YieldSession, DurationSession_sec, milking, EventDate)</a:t>
            </a:r>
          </a:p>
          <a:p>
            <a:pPr marL="171450" indent="-171450">
              <a:spcAft>
                <a:spcPts val="200"/>
              </a:spcAft>
              <a:buFont typeface="Arial" panose="020B0604020202020204" pitchFamily="34" charset="0"/>
              <a:buChar char="•"/>
              <a:defRPr sz="950">
                <a:solidFill>
                  <a:srgbClr val="23262A"/>
                </a:solidFill>
              </a:defRPr>
            </a:pPr>
            <a:r>
              <a:rPr lang="en-US" sz="1100" dirty="0">
                <a:solidFill>
                  <a:srgbClr val="23262A"/>
                </a:solidFill>
              </a:rPr>
              <a:t>Split EventDate into numerical calendar features</a:t>
            </a:r>
          </a:p>
          <a:p>
            <a:pPr marL="171450" indent="-171450">
              <a:spcAft>
                <a:spcPts val="200"/>
              </a:spcAft>
              <a:buFont typeface="Arial" panose="020B0604020202020204" pitchFamily="34" charset="0"/>
              <a:buChar char="•"/>
              <a:defRPr sz="950">
                <a:solidFill>
                  <a:srgbClr val="23262A"/>
                </a:solidFill>
              </a:defRPr>
            </a:pPr>
            <a:r>
              <a:rPr lang="en-US" sz="1600" dirty="0">
                <a:solidFill>
                  <a:srgbClr val="23262A"/>
                </a:solidFill>
              </a:rPr>
              <a:t>X and y created, empty RF formed</a:t>
            </a:r>
          </a:p>
          <a:p>
            <a:pPr>
              <a:spcAft>
                <a:spcPts val="200"/>
              </a:spcAft>
              <a:defRPr sz="950">
                <a:solidFill>
                  <a:srgbClr val="23262A"/>
                </a:solidFill>
              </a:defRPr>
            </a:pPr>
            <a:endParaRPr lang="en-US" sz="200" dirty="0">
              <a:solidFill>
                <a:srgbClr val="23262A"/>
              </a:solidFill>
            </a:endParaRPr>
          </a:p>
        </p:txBody>
      </p:sp>
      <p:sp>
        <p:nvSpPr>
          <p:cNvPr id="7" name="Rounded Rectangle 6"/>
          <p:cNvSpPr/>
          <p:nvPr/>
        </p:nvSpPr>
        <p:spPr>
          <a:xfrm>
            <a:off x="8022933" y="4157540"/>
            <a:ext cx="4076316" cy="2594359"/>
          </a:xfrm>
          <a:prstGeom prst="roundRect">
            <a:avLst/>
          </a:prstGeom>
          <a:solidFill>
            <a:srgbClr val="EBEDF0"/>
          </a:solidFill>
          <a:ln w="15240">
            <a:solidFill>
              <a:srgbClr val="CDD2D8"/>
            </a:solidFill>
          </a:ln>
        </p:spPr>
        <p:style>
          <a:lnRef idx="1">
            <a:schemeClr val="accent1"/>
          </a:lnRef>
          <a:fillRef idx="3">
            <a:schemeClr val="accent1"/>
          </a:fillRef>
          <a:effectRef idx="2">
            <a:schemeClr val="accent1"/>
          </a:effectRef>
          <a:fontRef idx="minor">
            <a:schemeClr val="lt1"/>
          </a:fontRef>
        </p:style>
        <p:txBody>
          <a:bodyPr lIns="118872" tIns="91440" bIns="73152" rtlCol="0" anchor="t"/>
          <a:lstStyle/>
          <a:p>
            <a:pPr>
              <a:spcAft>
                <a:spcPts val="500"/>
              </a:spcAft>
              <a:defRPr sz="1350" b="1">
                <a:solidFill>
                  <a:srgbClr val="1F3750"/>
                </a:solidFill>
              </a:defRPr>
            </a:pPr>
            <a:r>
              <a:rPr sz="1600" dirty="0"/>
              <a:t>4. Hyperparameter Tuning</a:t>
            </a:r>
            <a:r>
              <a:rPr lang="en-US" sz="1600" dirty="0"/>
              <a:t> </a:t>
            </a:r>
            <a:r>
              <a:rPr lang="en-US" sz="1600" dirty="0">
                <a:solidFill>
                  <a:schemeClr val="tx1">
                    <a:lumMod val="85000"/>
                    <a:lumOff val="15000"/>
                  </a:schemeClr>
                </a:solidFill>
              </a:rPr>
              <a:t>(n=400)</a:t>
            </a:r>
            <a:endParaRPr lang="en-US" sz="1600" dirty="0"/>
          </a:p>
          <a:p>
            <a:pPr lvl="0"/>
            <a:r>
              <a:rPr lang="en-US" sz="1600" dirty="0">
                <a:solidFill>
                  <a:schemeClr val="tx1">
                    <a:lumMod val="85000"/>
                    <a:lumOff val="15000"/>
                  </a:schemeClr>
                </a:solidFill>
              </a:rPr>
              <a:t>Tuned on Train set, evaluated on Val set RandomizedSearchCV (6 config. x 2-fold)</a:t>
            </a:r>
          </a:p>
          <a:p>
            <a:pPr marL="285750" lvl="0" indent="-285750">
              <a:buFont typeface="Arial" panose="020B0604020202020204" pitchFamily="34" charset="0"/>
              <a:buChar char="•"/>
            </a:pPr>
            <a:r>
              <a:rPr lang="en-US" sz="1600" dirty="0">
                <a:solidFill>
                  <a:schemeClr val="tx1">
                    <a:lumMod val="85000"/>
                    <a:lumOff val="15000"/>
                  </a:schemeClr>
                </a:solidFill>
              </a:rPr>
              <a:t>Best Parameters </a:t>
            </a:r>
          </a:p>
          <a:p>
            <a:pPr marL="628650" lvl="1" indent="-171450">
              <a:buFont typeface="Arial" panose="020B0604020202020204" pitchFamily="34" charset="0"/>
              <a:buChar char="•"/>
            </a:pPr>
            <a:r>
              <a:rPr lang="en-US" sz="1100" dirty="0">
                <a:solidFill>
                  <a:schemeClr val="tx1">
                    <a:lumMod val="85000"/>
                    <a:lumOff val="15000"/>
                  </a:schemeClr>
                </a:solidFill>
              </a:rPr>
              <a:t>n_estimators = 100 </a:t>
            </a:r>
          </a:p>
          <a:p>
            <a:pPr marL="628650" lvl="1" indent="-171450">
              <a:buFont typeface="Arial" panose="020B0604020202020204" pitchFamily="34" charset="0"/>
              <a:buChar char="•"/>
            </a:pPr>
            <a:r>
              <a:rPr lang="en-US" sz="1100" dirty="0" err="1">
                <a:solidFill>
                  <a:schemeClr val="tx1">
                    <a:lumMod val="85000"/>
                    <a:lumOff val="15000"/>
                  </a:schemeClr>
                </a:solidFill>
              </a:rPr>
              <a:t>max_depth</a:t>
            </a:r>
            <a:r>
              <a:rPr lang="en-US" sz="1100" dirty="0">
                <a:solidFill>
                  <a:schemeClr val="tx1">
                    <a:lumMod val="85000"/>
                    <a:lumOff val="15000"/>
                  </a:schemeClr>
                </a:solidFill>
              </a:rPr>
              <a:t> = 20</a:t>
            </a:r>
          </a:p>
          <a:p>
            <a:pPr marL="628650" lvl="1" indent="-171450">
              <a:buFont typeface="Arial" panose="020B0604020202020204" pitchFamily="34" charset="0"/>
              <a:buChar char="•"/>
            </a:pPr>
            <a:r>
              <a:rPr lang="en-US" sz="1100" dirty="0" err="1">
                <a:solidFill>
                  <a:schemeClr val="tx1">
                    <a:lumMod val="85000"/>
                    <a:lumOff val="15000"/>
                  </a:schemeClr>
                </a:solidFill>
              </a:rPr>
              <a:t>min_samples_split</a:t>
            </a:r>
            <a:r>
              <a:rPr lang="en-US" sz="1100" dirty="0">
                <a:solidFill>
                  <a:schemeClr val="tx1">
                    <a:lumMod val="85000"/>
                    <a:lumOff val="15000"/>
                  </a:schemeClr>
                </a:solidFill>
              </a:rPr>
              <a:t> = 5</a:t>
            </a:r>
          </a:p>
          <a:p>
            <a:pPr marL="628650" lvl="1" indent="-171450">
              <a:buFont typeface="Arial" panose="020B0604020202020204" pitchFamily="34" charset="0"/>
              <a:buChar char="•"/>
            </a:pPr>
            <a:r>
              <a:rPr lang="en-US" sz="1100" dirty="0" err="1">
                <a:solidFill>
                  <a:schemeClr val="tx1">
                    <a:lumMod val="85000"/>
                    <a:lumOff val="15000"/>
                  </a:schemeClr>
                </a:solidFill>
              </a:rPr>
              <a:t>min_samples_leaf</a:t>
            </a:r>
            <a:r>
              <a:rPr lang="en-US" sz="1100" dirty="0">
                <a:solidFill>
                  <a:schemeClr val="tx1">
                    <a:lumMod val="85000"/>
                    <a:lumOff val="15000"/>
                  </a:schemeClr>
                </a:solidFill>
              </a:rPr>
              <a:t> = 4 </a:t>
            </a:r>
          </a:p>
          <a:p>
            <a:pPr marL="628650" lvl="1" indent="-171450">
              <a:buFont typeface="Arial" panose="020B0604020202020204" pitchFamily="34" charset="0"/>
              <a:buChar char="•"/>
            </a:pPr>
            <a:r>
              <a:rPr lang="en-US" sz="1100" dirty="0" err="1">
                <a:solidFill>
                  <a:schemeClr val="tx1">
                    <a:lumMod val="85000"/>
                    <a:lumOff val="15000"/>
                  </a:schemeClr>
                </a:solidFill>
              </a:rPr>
              <a:t>max_features</a:t>
            </a:r>
            <a:r>
              <a:rPr lang="en-US" sz="1100" dirty="0">
                <a:solidFill>
                  <a:schemeClr val="tx1">
                    <a:lumMod val="85000"/>
                    <a:lumOff val="15000"/>
                  </a:schemeClr>
                </a:solidFill>
              </a:rPr>
              <a:t> = ‘log2’</a:t>
            </a:r>
          </a:p>
          <a:p>
            <a:pPr marL="285750" indent="-285750">
              <a:buFont typeface="Arial" panose="020B0604020202020204" pitchFamily="34" charset="0"/>
              <a:buChar char="•"/>
            </a:pPr>
            <a:r>
              <a:rPr lang="en-US" sz="1600" dirty="0">
                <a:solidFill>
                  <a:schemeClr val="tx1">
                    <a:lumMod val="85000"/>
                    <a:lumOff val="15000"/>
                  </a:schemeClr>
                </a:solidFill>
              </a:rPr>
              <a:t>Calculate top 1, 5, 10 accuracies</a:t>
            </a:r>
          </a:p>
          <a:p>
            <a:pPr lvl="0"/>
            <a:r>
              <a:rPr lang="en-US" sz="1600" dirty="0">
                <a:solidFill>
                  <a:schemeClr val="tx1">
                    <a:lumMod val="85000"/>
                    <a:lumOff val="15000"/>
                  </a:schemeClr>
                </a:solidFill>
              </a:rPr>
              <a:t>	</a:t>
            </a:r>
          </a:p>
        </p:txBody>
      </p:sp>
      <p:sp>
        <p:nvSpPr>
          <p:cNvPr id="8" name="Rounded Rectangle 7"/>
          <p:cNvSpPr/>
          <p:nvPr/>
        </p:nvSpPr>
        <p:spPr>
          <a:xfrm>
            <a:off x="4183960" y="4415081"/>
            <a:ext cx="3704023" cy="2336820"/>
          </a:xfrm>
          <a:prstGeom prst="roundRect">
            <a:avLst/>
          </a:prstGeom>
          <a:solidFill>
            <a:srgbClr val="EBEDF0"/>
          </a:solidFill>
          <a:ln w="15240">
            <a:solidFill>
              <a:srgbClr val="CDD2D8"/>
            </a:solidFill>
          </a:ln>
        </p:spPr>
        <p:style>
          <a:lnRef idx="1">
            <a:schemeClr val="accent1"/>
          </a:lnRef>
          <a:fillRef idx="3">
            <a:schemeClr val="accent1"/>
          </a:fillRef>
          <a:effectRef idx="2">
            <a:schemeClr val="accent1"/>
          </a:effectRef>
          <a:fontRef idx="minor">
            <a:schemeClr val="lt1"/>
          </a:fontRef>
        </p:style>
        <p:txBody>
          <a:bodyPr lIns="118872" tIns="91440" bIns="73152" rtlCol="0" anchor="t"/>
          <a:lstStyle/>
          <a:p>
            <a:pPr>
              <a:spcAft>
                <a:spcPts val="500"/>
              </a:spcAft>
              <a:defRPr sz="1350" b="1">
                <a:solidFill>
                  <a:srgbClr val="1F3750"/>
                </a:solidFill>
              </a:defRPr>
            </a:pPr>
            <a:r>
              <a:rPr lang="en-US" sz="1600" dirty="0"/>
              <a:t>5</a:t>
            </a:r>
            <a:r>
              <a:rPr sz="1600" dirty="0"/>
              <a:t>. </a:t>
            </a:r>
            <a:r>
              <a:rPr lang="en-US" sz="1600" dirty="0"/>
              <a:t>Model</a:t>
            </a:r>
            <a:r>
              <a:rPr sz="1600" dirty="0"/>
              <a:t> Performance</a:t>
            </a:r>
            <a:r>
              <a:rPr lang="en-US" sz="1600" dirty="0"/>
              <a:t> (n=400)</a:t>
            </a:r>
            <a:endParaRPr sz="1600" dirty="0"/>
          </a:p>
          <a:p>
            <a:pPr marL="285750" indent="-285750">
              <a:spcAft>
                <a:spcPts val="200"/>
              </a:spcAft>
              <a:buFont typeface="Arial" panose="020B0604020202020204" pitchFamily="34" charset="0"/>
              <a:buChar char="•"/>
              <a:defRPr sz="950">
                <a:solidFill>
                  <a:srgbClr val="23262A"/>
                </a:solidFill>
              </a:defRPr>
            </a:pPr>
            <a:r>
              <a:rPr lang="en-US" sz="1600" dirty="0"/>
              <a:t>Train and Val sets to train </a:t>
            </a:r>
          </a:p>
          <a:p>
            <a:pPr marL="285750" indent="-285750">
              <a:spcAft>
                <a:spcPts val="200"/>
              </a:spcAft>
              <a:buFont typeface="Arial" panose="020B0604020202020204" pitchFamily="34" charset="0"/>
              <a:buChar char="•"/>
              <a:defRPr sz="950">
                <a:solidFill>
                  <a:srgbClr val="23262A"/>
                </a:solidFill>
              </a:defRPr>
            </a:pPr>
            <a:r>
              <a:rPr lang="en-US" sz="1600" dirty="0"/>
              <a:t>RF made with Test set using tuned hyperparameters </a:t>
            </a:r>
          </a:p>
          <a:p>
            <a:pPr marL="285750" indent="-285750">
              <a:spcAft>
                <a:spcPts val="200"/>
              </a:spcAft>
              <a:buFont typeface="Arial" panose="020B0604020202020204" pitchFamily="34" charset="0"/>
              <a:buChar char="•"/>
              <a:defRPr sz="950">
                <a:solidFill>
                  <a:srgbClr val="23262A"/>
                </a:solidFill>
              </a:defRPr>
            </a:pPr>
            <a:r>
              <a:rPr lang="en-US" sz="1600" dirty="0"/>
              <a:t>FINAL TEST RESULTS </a:t>
            </a:r>
            <a:r>
              <a:rPr lang="en-US" sz="1600" dirty="0">
                <a:sym typeface="Wingdings" pitchFamily="2" charset="2"/>
              </a:rPr>
              <a:t></a:t>
            </a:r>
            <a:endParaRPr lang="en-US" sz="1600" dirty="0"/>
          </a:p>
          <a:p>
            <a:pPr marL="742950" lvl="1" indent="-285750">
              <a:spcAft>
                <a:spcPts val="200"/>
              </a:spcAft>
              <a:buFont typeface="Arial" panose="020B0604020202020204" pitchFamily="34" charset="0"/>
              <a:buChar char="•"/>
              <a:defRPr sz="950">
                <a:solidFill>
                  <a:srgbClr val="23262A"/>
                </a:solidFill>
              </a:defRPr>
            </a:pPr>
            <a:r>
              <a:rPr lang="en-US" sz="1100" dirty="0"/>
              <a:t>Top-1:  7.12%</a:t>
            </a:r>
            <a:endParaRPr lang="en-US" sz="1400" dirty="0"/>
          </a:p>
          <a:p>
            <a:pPr marL="742950" lvl="1" indent="-285750">
              <a:spcAft>
                <a:spcPts val="200"/>
              </a:spcAft>
              <a:buFont typeface="Arial" panose="020B0604020202020204" pitchFamily="34" charset="0"/>
              <a:buChar char="•"/>
              <a:defRPr sz="950">
                <a:solidFill>
                  <a:srgbClr val="23262A"/>
                </a:solidFill>
              </a:defRPr>
            </a:pPr>
            <a:r>
              <a:rPr lang="en-US" sz="1100" dirty="0"/>
              <a:t>Top-5:  23.45%</a:t>
            </a:r>
          </a:p>
          <a:p>
            <a:pPr marL="742950" lvl="1" indent="-285750">
              <a:spcAft>
                <a:spcPts val="200"/>
              </a:spcAft>
              <a:buFont typeface="Arial" panose="020B0604020202020204" pitchFamily="34" charset="0"/>
              <a:buChar char="•"/>
              <a:defRPr sz="950">
                <a:solidFill>
                  <a:srgbClr val="23262A"/>
                </a:solidFill>
              </a:defRPr>
            </a:pPr>
            <a:r>
              <a:rPr lang="en-US" sz="1100" dirty="0"/>
              <a:t>Top-10: 35.78%</a:t>
            </a:r>
          </a:p>
        </p:txBody>
      </p:sp>
      <p:sp>
        <p:nvSpPr>
          <p:cNvPr id="10" name="Rounded Rectangle 9"/>
          <p:cNvSpPr/>
          <p:nvPr/>
        </p:nvSpPr>
        <p:spPr>
          <a:xfrm>
            <a:off x="113784" y="3995882"/>
            <a:ext cx="3930269" cy="2756018"/>
          </a:xfrm>
          <a:prstGeom prst="roundRect">
            <a:avLst/>
          </a:prstGeom>
          <a:solidFill>
            <a:srgbClr val="E2EFDA"/>
          </a:solidFill>
          <a:ln w="22860">
            <a:solidFill>
              <a:srgbClr val="70AD47"/>
            </a:solidFill>
          </a:ln>
        </p:spPr>
        <p:style>
          <a:lnRef idx="1">
            <a:schemeClr val="accent1"/>
          </a:lnRef>
          <a:fillRef idx="3">
            <a:schemeClr val="accent1"/>
          </a:fillRef>
          <a:effectRef idx="2">
            <a:schemeClr val="accent1"/>
          </a:effectRef>
          <a:fontRef idx="minor">
            <a:schemeClr val="lt1"/>
          </a:fontRef>
        </p:style>
        <p:txBody>
          <a:bodyPr lIns="182880" tIns="109728" rIns="182880" rtlCol="0" anchor="ctr"/>
          <a:lstStyle/>
          <a:p>
            <a:pPr>
              <a:defRPr sz="1700" b="1">
                <a:solidFill>
                  <a:srgbClr val="396926"/>
                </a:solidFill>
              </a:defRPr>
            </a:pPr>
            <a:r>
              <a:rPr dirty="0"/>
              <a:t>7. FARM APPLICATION</a:t>
            </a:r>
            <a:r>
              <a:rPr lang="en-US" dirty="0"/>
              <a:t> </a:t>
            </a:r>
          </a:p>
          <a:p>
            <a:pPr>
              <a:defRPr sz="1700" b="1">
                <a:solidFill>
                  <a:srgbClr val="396926"/>
                </a:solidFill>
              </a:defRPr>
            </a:pPr>
            <a:r>
              <a:rPr lang="en-US" dirty="0"/>
              <a:t>(Practical?- not really)</a:t>
            </a:r>
          </a:p>
          <a:p>
            <a:pPr>
              <a:defRPr sz="1700" b="1">
                <a:solidFill>
                  <a:srgbClr val="396926"/>
                </a:solidFill>
              </a:defRPr>
            </a:pPr>
            <a:endParaRPr lang="en-US" sz="500" dirty="0"/>
          </a:p>
          <a:p>
            <a:pPr>
              <a:defRPr sz="1700" b="1">
                <a:solidFill>
                  <a:srgbClr val="396926"/>
                </a:solidFill>
              </a:defRPr>
            </a:pPr>
            <a:r>
              <a:rPr lang="en-US" sz="1600" dirty="0">
                <a:solidFill>
                  <a:schemeClr val="tx1">
                    <a:lumMod val="85000"/>
                    <a:lumOff val="15000"/>
                  </a:schemeClr>
                </a:solidFill>
              </a:rPr>
              <a:t>Tree-based model(s): - </a:t>
            </a:r>
            <a:r>
              <a:rPr lang="en-US" sz="1100" dirty="0" err="1">
                <a:solidFill>
                  <a:schemeClr val="tx1">
                    <a:lumMod val="85000"/>
                    <a:lumOff val="15000"/>
                  </a:schemeClr>
                </a:solidFill>
              </a:rPr>
              <a:t>XGBClassifier</a:t>
            </a:r>
            <a:r>
              <a:rPr lang="en-US" sz="1100" dirty="0">
                <a:solidFill>
                  <a:schemeClr val="tx1">
                    <a:lumMod val="85000"/>
                    <a:lumOff val="15000"/>
                  </a:schemeClr>
                </a:solidFill>
              </a:rPr>
              <a:t>, RF</a:t>
            </a:r>
          </a:p>
          <a:p>
            <a:pPr marL="285750" indent="-285750">
              <a:buFont typeface="Arial" panose="020B0604020202020204" pitchFamily="34" charset="0"/>
              <a:buChar char="•"/>
              <a:defRPr sz="1700" b="1">
                <a:solidFill>
                  <a:srgbClr val="396926"/>
                </a:solidFill>
              </a:defRPr>
            </a:pPr>
            <a:r>
              <a:rPr lang="en-US" sz="1200" dirty="0">
                <a:solidFill>
                  <a:schemeClr val="tx1">
                    <a:lumMod val="85000"/>
                    <a:lumOff val="15000"/>
                  </a:schemeClr>
                </a:solidFill>
              </a:rPr>
              <a:t>Can’t predict untrained cows or after changed characteristics</a:t>
            </a:r>
          </a:p>
          <a:p>
            <a:pPr marL="285750" indent="-285750">
              <a:buFont typeface="Arial" panose="020B0604020202020204" pitchFamily="34" charset="0"/>
              <a:buChar char="•"/>
              <a:defRPr sz="1700" b="1">
                <a:solidFill>
                  <a:srgbClr val="396926"/>
                </a:solidFill>
              </a:defRPr>
            </a:pPr>
            <a:r>
              <a:rPr lang="en-US" sz="1200" dirty="0">
                <a:solidFill>
                  <a:schemeClr val="tx1">
                    <a:lumMod val="85000"/>
                    <a:lumOff val="15000"/>
                  </a:schemeClr>
                </a:solidFill>
              </a:rPr>
              <a:t>Computationally intensive </a:t>
            </a:r>
          </a:p>
          <a:p>
            <a:pPr marL="285750" indent="-285750">
              <a:buFont typeface="Arial" panose="020B0604020202020204" pitchFamily="34" charset="0"/>
              <a:buChar char="•"/>
              <a:defRPr sz="1700" b="1">
                <a:solidFill>
                  <a:srgbClr val="396926"/>
                </a:solidFill>
              </a:defRPr>
            </a:pPr>
            <a:r>
              <a:rPr lang="en-US" sz="1200" dirty="0">
                <a:solidFill>
                  <a:schemeClr val="tx1">
                    <a:lumMod val="85000"/>
                    <a:lumOff val="15000"/>
                  </a:schemeClr>
                </a:solidFill>
              </a:rPr>
              <a:t>Prone to overfitting </a:t>
            </a:r>
          </a:p>
          <a:p>
            <a:pPr marL="285750" indent="-285750">
              <a:buFont typeface="Arial" panose="020B0604020202020204" pitchFamily="34" charset="0"/>
              <a:buChar char="•"/>
              <a:defRPr sz="1700" b="1">
                <a:solidFill>
                  <a:srgbClr val="396926"/>
                </a:solidFill>
              </a:defRPr>
            </a:pPr>
            <a:r>
              <a:rPr lang="en-US" sz="1200" dirty="0">
                <a:solidFill>
                  <a:schemeClr val="tx1">
                    <a:lumMod val="85000"/>
                    <a:lumOff val="15000"/>
                  </a:schemeClr>
                </a:solidFill>
              </a:rPr>
              <a:t>Drastic drop in accuracy as herd size increases</a:t>
            </a:r>
          </a:p>
          <a:p>
            <a:pPr>
              <a:defRPr sz="1700" b="1">
                <a:solidFill>
                  <a:srgbClr val="396926"/>
                </a:solidFill>
              </a:defRPr>
            </a:pPr>
            <a:r>
              <a:rPr lang="en-US" sz="1600" dirty="0">
                <a:solidFill>
                  <a:schemeClr val="tx1">
                    <a:lumMod val="85000"/>
                    <a:lumOff val="15000"/>
                  </a:schemeClr>
                </a:solidFill>
              </a:rPr>
              <a:t>Other Issues: </a:t>
            </a:r>
          </a:p>
          <a:p>
            <a:pPr marL="285750" indent="-285750">
              <a:buFont typeface="Arial" panose="020B0604020202020204" pitchFamily="34" charset="0"/>
              <a:buChar char="•"/>
              <a:defRPr sz="1700" b="1">
                <a:solidFill>
                  <a:srgbClr val="396926"/>
                </a:solidFill>
              </a:defRPr>
            </a:pPr>
            <a:r>
              <a:rPr lang="en-US" sz="1200" dirty="0">
                <a:solidFill>
                  <a:schemeClr val="tx1">
                    <a:lumMod val="85000"/>
                    <a:lumOff val="15000"/>
                  </a:schemeClr>
                </a:solidFill>
              </a:rPr>
              <a:t>Memory/kernel crashes (data set size and large CV grid searches)</a:t>
            </a:r>
          </a:p>
          <a:p>
            <a:pPr marL="285750" indent="-285750">
              <a:buFont typeface="Arial" panose="020B0604020202020204" pitchFamily="34" charset="0"/>
              <a:buChar char="•"/>
              <a:defRPr sz="1700" b="1">
                <a:solidFill>
                  <a:srgbClr val="396926"/>
                </a:solidFill>
              </a:defRPr>
            </a:pPr>
            <a:r>
              <a:rPr lang="en-US" sz="1200" dirty="0">
                <a:solidFill>
                  <a:schemeClr val="tx1">
                    <a:lumMod val="85000"/>
                    <a:lumOff val="15000"/>
                  </a:schemeClr>
                </a:solidFill>
              </a:rPr>
              <a:t>Class imbalance matters</a:t>
            </a:r>
            <a:endParaRPr sz="1200" dirty="0">
              <a:solidFill>
                <a:schemeClr val="tx1"/>
              </a:solidFill>
            </a:endParaRPr>
          </a:p>
        </p:txBody>
      </p:sp>
      <p:cxnSp>
        <p:nvCxnSpPr>
          <p:cNvPr id="11" name="Connector 10"/>
          <p:cNvCxnSpPr>
            <a:cxnSpLocks/>
          </p:cNvCxnSpPr>
          <p:nvPr/>
        </p:nvCxnSpPr>
        <p:spPr>
          <a:xfrm>
            <a:off x="3918355" y="2203960"/>
            <a:ext cx="182880" cy="0"/>
          </a:xfrm>
          <a:prstGeom prst="line">
            <a:avLst/>
          </a:prstGeom>
          <a:ln w="25400">
            <a:solidFill>
              <a:srgbClr val="44729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a:cxnSpLocks/>
          </p:cNvCxnSpPr>
          <p:nvPr/>
        </p:nvCxnSpPr>
        <p:spPr>
          <a:xfrm>
            <a:off x="7966743" y="2253779"/>
            <a:ext cx="181320" cy="0"/>
          </a:xfrm>
          <a:prstGeom prst="line">
            <a:avLst/>
          </a:prstGeom>
          <a:ln w="25400">
            <a:solidFill>
              <a:srgbClr val="44729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a:cxnSpLocks/>
          </p:cNvCxnSpPr>
          <p:nvPr/>
        </p:nvCxnSpPr>
        <p:spPr>
          <a:xfrm flipV="1">
            <a:off x="10035417" y="3995882"/>
            <a:ext cx="0" cy="161659"/>
          </a:xfrm>
          <a:prstGeom prst="line">
            <a:avLst/>
          </a:prstGeom>
          <a:ln w="25400">
            <a:solidFill>
              <a:srgbClr val="44729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a:cxnSpLocks/>
          </p:cNvCxnSpPr>
          <p:nvPr/>
        </p:nvCxnSpPr>
        <p:spPr>
          <a:xfrm>
            <a:off x="7852526" y="5629009"/>
            <a:ext cx="170407" cy="0"/>
          </a:xfrm>
          <a:prstGeom prst="line">
            <a:avLst/>
          </a:prstGeom>
          <a:ln w="25400">
            <a:solidFill>
              <a:srgbClr val="447299"/>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8416" y="640095"/>
            <a:ext cx="8529964" cy="338554"/>
          </a:xfrm>
          <a:prstGeom prst="rect">
            <a:avLst/>
          </a:prstGeom>
          <a:noFill/>
        </p:spPr>
        <p:txBody>
          <a:bodyPr wrap="none">
            <a:spAutoFit/>
          </a:bodyPr>
          <a:lstStyle/>
          <a:p>
            <a:pPr algn="ctr">
              <a:defRPr sz="900" i="1">
                <a:solidFill>
                  <a:srgbClr val="5F6368"/>
                </a:solidFill>
              </a:defRPr>
            </a:pPr>
            <a:r>
              <a:rPr sz="1600" dirty="0"/>
              <a:t>Goal: build a reliable classifier </a:t>
            </a:r>
            <a:r>
              <a:rPr lang="en-US" sz="1600" dirty="0"/>
              <a:t>in CVS </a:t>
            </a:r>
            <a:r>
              <a:rPr sz="1600" dirty="0"/>
              <a:t>that can translate farm-collected features into individual cow identification.</a:t>
            </a:r>
          </a:p>
        </p:txBody>
      </p:sp>
      <p:cxnSp>
        <p:nvCxnSpPr>
          <p:cNvPr id="32" name="Connector 14">
            <a:extLst>
              <a:ext uri="{FF2B5EF4-FFF2-40B4-BE49-F238E27FC236}">
                <a16:creationId xmlns:a16="http://schemas.microsoft.com/office/drawing/2014/main" id="{AA3BABB7-B359-A44F-75B0-D2EE09F327D0}"/>
              </a:ext>
            </a:extLst>
          </p:cNvPr>
          <p:cNvCxnSpPr>
            <a:cxnSpLocks/>
          </p:cNvCxnSpPr>
          <p:nvPr/>
        </p:nvCxnSpPr>
        <p:spPr>
          <a:xfrm>
            <a:off x="4044053" y="5538856"/>
            <a:ext cx="170305" cy="0"/>
          </a:xfrm>
          <a:prstGeom prst="line">
            <a:avLst/>
          </a:prstGeom>
          <a:ln w="25400">
            <a:solidFill>
              <a:srgbClr val="447299"/>
            </a:solidFill>
          </a:ln>
        </p:spPr>
        <p:style>
          <a:lnRef idx="2">
            <a:schemeClr val="accent1"/>
          </a:lnRef>
          <a:fillRef idx="0">
            <a:schemeClr val="accent1"/>
          </a:fillRef>
          <a:effectRef idx="1">
            <a:schemeClr val="accent1"/>
          </a:effectRef>
          <a:fontRef idx="minor">
            <a:schemeClr val="tx1"/>
          </a:fontRef>
        </p:style>
      </p:cxnSp>
      <p:sp>
        <p:nvSpPr>
          <p:cNvPr id="39" name="Curved Down Arrow 38">
            <a:extLst>
              <a:ext uri="{FF2B5EF4-FFF2-40B4-BE49-F238E27FC236}">
                <a16:creationId xmlns:a16="http://schemas.microsoft.com/office/drawing/2014/main" id="{1D98215B-3BF4-C1B3-D0E1-B23554A185C9}"/>
              </a:ext>
            </a:extLst>
          </p:cNvPr>
          <p:cNvSpPr/>
          <p:nvPr/>
        </p:nvSpPr>
        <p:spPr>
          <a:xfrm rot="16416871">
            <a:off x="7695348" y="3819901"/>
            <a:ext cx="635140" cy="351962"/>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0" name="Curved Down Arrow 39">
            <a:extLst>
              <a:ext uri="{FF2B5EF4-FFF2-40B4-BE49-F238E27FC236}">
                <a16:creationId xmlns:a16="http://schemas.microsoft.com/office/drawing/2014/main" id="{EBD64DC2-FAB6-8F04-0FFE-70138E09E4EA}"/>
              </a:ext>
            </a:extLst>
          </p:cNvPr>
          <p:cNvSpPr/>
          <p:nvPr/>
        </p:nvSpPr>
        <p:spPr>
          <a:xfrm rot="5400000">
            <a:off x="11568022" y="3912068"/>
            <a:ext cx="635140" cy="351962"/>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9" name="Picture 8">
            <a:extLst>
              <a:ext uri="{FF2B5EF4-FFF2-40B4-BE49-F238E27FC236}">
                <a16:creationId xmlns:a16="http://schemas.microsoft.com/office/drawing/2014/main" id="{EFCAF2C6-24F3-009D-45B1-325C4CF58ADB}"/>
              </a:ext>
            </a:extLst>
          </p:cNvPr>
          <p:cNvPicPr>
            <a:picLocks noChangeAspect="1"/>
          </p:cNvPicPr>
          <p:nvPr/>
        </p:nvPicPr>
        <p:blipFill>
          <a:blip r:embed="rId3"/>
          <a:srcRect b="14859"/>
          <a:stretch>
            <a:fillRect/>
          </a:stretch>
        </p:blipFill>
        <p:spPr>
          <a:xfrm>
            <a:off x="4935280" y="3273682"/>
            <a:ext cx="2209425" cy="1286563"/>
          </a:xfrm>
          <a:prstGeom prst="rect">
            <a:avLst/>
          </a:prstGeom>
        </p:spPr>
      </p:pic>
    </p:spTree>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Archway</Template>
  <TotalTime>2647</TotalTime>
  <Words>661</Words>
  <Application>Microsoft Macintosh PowerPoint</Application>
  <PresentationFormat>Widescreen</PresentationFormat>
  <Paragraphs>71</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Felix Titling</vt:lpstr>
      <vt:lpstr>Goudy Old Style</vt:lpstr>
      <vt:lpstr>Wingdings</vt:lpstr>
      <vt:lpstr>Archway</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Katrina Marie Payton</cp:lastModifiedBy>
  <cp:revision>2</cp:revision>
  <dcterms:created xsi:type="dcterms:W3CDTF">2013-01-27T09:14:16Z</dcterms:created>
  <dcterms:modified xsi:type="dcterms:W3CDTF">2026-10-06T02:29:39Z</dcterms:modified>
  <cp:category/>
</cp:coreProperties>
</file>